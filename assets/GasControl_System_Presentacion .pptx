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Nivel objetivo (sobre 5)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Adecuación
funcional</c:v>
                  </c:pt>
                  <c:pt idx="1">
                    <c:v>Seguridad</c:v>
                  </c:pt>
                  <c:pt idx="2">
                    <c:v>Usabilidad</c:v>
                  </c:pt>
                  <c:pt idx="3">
                    <c:v>Fiabilidad</c:v>
                  </c:pt>
                  <c:pt idx="4">
                    <c:v>Eficiencia de
desempeño</c:v>
                  </c:pt>
                  <c:pt idx="5">
                    <c:v>Compatibilidad</c:v>
                  </c:pt>
                  <c:pt idx="6">
                    <c:v>Mantenibilidad</c:v>
                  </c:pt>
                  <c:pt idx="7">
                    <c:v>Portabilidad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majorGridlines>
          <c:spPr>
            <a:ln w="9525" cap="flat">
              <a:solidFill>
                <a:srgbClr val="E3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108960" cy="3108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_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746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LOS ANDES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Escuela Profesional de Ingeniería de Sistemas y Computación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Integral de Desarrollo de Software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GasControl System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8463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del Desarrollo de Software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Mtro. Jaime Huaytalla Pariona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V · Sección A1 · Huancayo, Perú ·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080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Huamán Quispe, Juan Lenin  ·  Rosales Crispín, Aristóteles Onassis  ·  Vilcapoma Ochoa, Michael Axel  ·  Salva Lulo, Moisés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INFORME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20105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1965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organizacional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18541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empresa, sus procesos core y la problemática identificada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642616"/>
            <a:ext cx="1088136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85183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609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modelo de proceso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17320" y="302666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Cascada vs. Espiral vs. Scrum y su justificación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483864"/>
            <a:ext cx="1088136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557016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2" descr="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69307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5021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gestión del proyecto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17320" y="386791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sprints, recursos, riesgos y métricas EVM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325112"/>
            <a:ext cx="1088136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4398264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534327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calidad del software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417320" y="4709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ISO/IEC 25010 y aseguramiento de calidad (SQA)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523951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5" name="Image 4" descr="icon_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375575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1846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reflexión crítica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417320" y="55504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clave, lecciones aprendidas y limitaciones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GasControl System: la propuesta en breve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GasControl Perú S.A.C. gestiona hoy sus pedidos, inventario y entregas de gas doméstico de forma manual, lo que genera errores, demoras y poca visibilidad para la toma de decisiones. Proponemos un sistema web integrado —desarrollado bajo Scrum con Entregables Formales— que automatiza clientes, pedidos, inventario, ventas, distribución y reportes.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4343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4343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E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4652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89720" y="4343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E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S/. 0.00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2688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(900 h-hombre)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1691640"/>
            <a:ext cx="4526280" cy="2331720"/>
          </a:xfrm>
          <a:prstGeom prst="roundRect">
            <a:avLst>
              <a:gd name="adj" fmla="val 3922"/>
            </a:avLst>
          </a:prstGeom>
          <a:solidFill>
            <a:srgbClr val="1B2352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1965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0" descr="icon_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8314" y="209763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138160" y="1993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GasControl Perú S.A.C.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06640" y="2606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gas doméstico en Huancayo, Junín · ~20 trabajadores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06640" y="3246120"/>
            <a:ext cx="4023360" cy="0"/>
          </a:xfrm>
          <a:prstGeom prst="line">
            <a:avLst/>
          </a:prstGeom>
          <a:noFill/>
          <a:ln w="12700">
            <a:solidFill>
              <a:srgbClr val="3E4A8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33649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Scrum con Entregables Formales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Aprobación de Incremento Técnico al cierre de cada sprint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organización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generales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y comercialización de gas doméstico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23160" y="3081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privada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73989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23160" y="37398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 — Junín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3982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439826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Aprox. 20 trabajadores (administrativos y repartidores)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0566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principal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3160" y="5056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y distribución de balones de gas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173736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2F3C7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9476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0" descr="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4341" y="2068373"/>
            <a:ext cx="261518" cy="26151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03720" y="1975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242316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Brindar un servicio eficiente, rápido y seguro de distribución de gas doméstico, garantizando calidad y satisfacción al cliente.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89320" y="379476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F96167"/>
          </a:solidFill>
          <a:ln/>
        </p:spPr>
      </p:sp>
      <p:sp>
        <p:nvSpPr>
          <p:cNvPr id="22" name="Shape 19"/>
          <p:cNvSpPr/>
          <p:nvPr/>
        </p:nvSpPr>
        <p:spPr>
          <a:xfrm>
            <a:off x="6263640" y="4005072"/>
            <a:ext cx="502920" cy="502920"/>
          </a:xfrm>
          <a:prstGeom prst="ellipse">
            <a:avLst/>
          </a:prstGeom>
          <a:solidFill>
            <a:srgbClr val="1B2352"/>
          </a:solidFill>
          <a:ln/>
        </p:spPr>
      </p:sp>
      <p:pic>
        <p:nvPicPr>
          <p:cNvPr id="23" name="Image 1" descr="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341" y="4125773"/>
            <a:ext cx="261518" cy="26151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03720" y="40325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263640" y="448056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una empresa líder en distribución de gas doméstico a nivel regional, reconocida por su innovación y eficiencia operativa.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 identificada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 — cuadernos, llamadas y hojas de Excel — generan errores y falta de visibilidad operativa.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4524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control de pedidos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36499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manual: errores, pérdida de información y duplicidad.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0" y="21031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2331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icon_ware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24524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Deficiente control de inventario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336499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control automatizado del stock de balones.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63840" y="21031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2440" y="2331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141" y="245242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92440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Retrasos en las entregas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092440" y="336499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Repartidores sin organización de rutas ni control de pedidos asignados.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3" descr="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69270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212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Escasa generación de reportes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60527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reportes automáticos de ventas, entregas o rendimiento.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06240" y="43434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34840" y="4572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7" name="Image 4" descr="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541" y="4692701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34840" y="5212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 organización de la información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34840" y="560527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clientes y pedidos dispersos en medios físicos y digitales.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organizacional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 organizacional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tradicionales; estructura pequeña que facilita adaptarse a nuevas herramientas.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7373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341" y="208666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Madurez de TI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63640" y="2606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área de TI ni sistema informático; nivel tecnológico básico.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3269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233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Naturaleza del producto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24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gestión con requerimientos ajustables — conviene un enfoque ágil.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3504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42062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341" y="432694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4233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Restricciones de negocio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tiempo limitados; debe operar sin infraestructura compleja.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funcional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sin presupuesto: Supabase (auth, base de datos, almacenamiento) + GitHub, priorizando el mayor valor con el menor costo técnico.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2128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225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78892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seguro, recuperación de contraseña y control de permisos.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0624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4407408" y="22128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32257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clientes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07408" y="278892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actualización e historial de pedidos.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F3C7E"/>
          </a:solidFill>
          <a:ln/>
        </p:spPr>
      </p:sp>
      <p:sp>
        <p:nvSpPr>
          <p:cNvPr id="16" name="Shape 12"/>
          <p:cNvSpPr/>
          <p:nvPr/>
        </p:nvSpPr>
        <p:spPr>
          <a:xfrm>
            <a:off x="8065008" y="22128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232257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pedidos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065008" y="278892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estado, asignación de repartidor y seguimiento.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F3C7E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3" descr="icon_warehou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133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9808" y="470916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Entradas/salidas, stock automático y alertas de stock mínimo.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06240" y="39319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F3C7E"/>
          </a:solidFill>
          <a:ln/>
        </p:spPr>
      </p:sp>
      <p:sp>
        <p:nvSpPr>
          <p:cNvPr id="26" name="Shape 20"/>
          <p:cNvSpPr/>
          <p:nvPr/>
        </p:nvSpPr>
        <p:spPr>
          <a:xfrm>
            <a:off x="4407408" y="41330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7" name="Image 4" descr="icon_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36" y="424281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83480" y="4133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07408" y="470916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confirmación de entregas y rutas.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863840" y="39319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F3C7E"/>
          </a:solidFill>
          <a:ln/>
        </p:spPr>
      </p:sp>
      <p:sp>
        <p:nvSpPr>
          <p:cNvPr id="31" name="Shape 24"/>
          <p:cNvSpPr/>
          <p:nvPr/>
        </p:nvSpPr>
        <p:spPr>
          <a:xfrm>
            <a:off x="8065008" y="41330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2" name="Image 5" descr="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424281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41080" y="4133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065008" y="470916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entregas, clientes y stock.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clave: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(control total)   ·   Repartidor (entregas y rutas)   ·   Cliente (pedidos y seguimiento)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REQUISITOS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 y no funcionales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46120" cy="41148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Autenticación y seguridad (4)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Gestión de clientes (4)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Gestión de pedidos (5)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Inventario (3)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Distribución (3)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(4)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1737360"/>
            <a:ext cx="3246120" cy="41148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9659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977640" y="2788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no funcionales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3246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Rendimiento (&lt; 3 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51960" y="35524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Seguridad y acceso por roles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8587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Disponibilidad (≥ 95%)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1960" y="41650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Usabilidad (≤ 3 clics)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44714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Compatibilidad Chrome/Edge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51960" y="47777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Fiabilidad e integridad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51960" y="50840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Mantenibilidad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53903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Respaldo y recuperación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0" y="56967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Portabilidad y documentación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06640" y="173736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1B2352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críticos a validar con el cliente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80960" y="26974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2697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repartidor al pedido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33832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33832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3383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penalidades por cancelación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80960" y="40690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40690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069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offline con sincronización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80960" y="5029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3 requisitos son cambiantes y de mayor riesgo técnico: definen la elección del modelo de proceso (sección siguiente).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SELECCIÓN DEL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Cascada, Espiral o Scrum: la evaluación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0" y="160020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3F3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 (Pressman, 2019)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0" y="16916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Espiral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1691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11018520" cy="0"/>
          </a:xfrm>
          <a:prstGeom prst="line">
            <a:avLst/>
          </a:prstGeom>
          <a:noFill/>
          <a:ln w="15875">
            <a:solidFill>
              <a:srgbClr val="E3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de requisitos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258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2258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0" y="225856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11018520" cy="0"/>
          </a:xfrm>
          <a:prstGeom prst="line">
            <a:avLst/>
          </a:prstGeom>
          <a:noFill/>
          <a:ln w="9525">
            <a:solidFill>
              <a:srgbClr val="E3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1693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al riesgo técnico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91693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291693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03920" y="2916936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Media/alta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75304"/>
            <a:ext cx="11018520" cy="0"/>
          </a:xfrm>
          <a:prstGeom prst="line">
            <a:avLst/>
          </a:prstGeom>
          <a:noFill/>
          <a:ln w="9525">
            <a:solidFill>
              <a:srgbClr val="E3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7530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del equipo requerida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575304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Media/baja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3575304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0" y="3575304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33672"/>
            <a:ext cx="11018520" cy="0"/>
          </a:xfrm>
          <a:prstGeom prst="line">
            <a:avLst/>
          </a:prstGeom>
          <a:noFill/>
          <a:ln w="9525">
            <a:solidFill>
              <a:srgbClr val="E3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336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exigida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2336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42336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03920" y="423367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Baja*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18520" cy="0"/>
          </a:xfrm>
          <a:prstGeom prst="line">
            <a:avLst/>
          </a:prstGeom>
          <a:noFill/>
          <a:ln w="9525">
            <a:solidFill>
              <a:srgbClr val="E3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92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entrega de valor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489204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37960" y="489204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03920" y="489204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*Mitigado con la adaptación “Scrum con Entregables Formales” — ver siguiente diapositiva.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MODELO SELECCIONADO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con Entregables Formales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Scrum?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descartado: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22% de requisitos cambiantes (10, 12, 19) invalidaría un modelo de requisitos congelados.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Espiral descartado: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expertise en gestión cuantitativa de riesgos que el equipo aún no posee.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 en 6 módulos, favorece la autoorganización y aísla el riesgo técnico en sprints específicos.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B2352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84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adaptación académica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entrega poco documento por defecto. Para cubrir ese déficit y encajar con la cultura corporativa formal, se diseñó “Scrum con Entregables Formales”: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537960" y="365760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2F3C7E"/>
          </a:solidFill>
          <a:ln/>
        </p:spPr>
      </p:sp>
      <p:sp>
        <p:nvSpPr>
          <p:cNvPr id="15" name="Text 11"/>
          <p:cNvSpPr/>
          <p:nvPr/>
        </p:nvSpPr>
        <p:spPr>
          <a:xfrm>
            <a:off x="6766560" y="38221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Acta de Aprobación de Incremento Técnico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766560" y="4206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 cada Sprint Review, además de demostrar el software: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903720" y="45537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Resumen del alcance cubierto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903720" y="48828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 de cobertura de pruebas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903720" y="52120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Firma del Product Owner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EQUIPO SCRUM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10312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50" y="23006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Huamán Quispe, Juan Lenin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4178808"/>
            <a:ext cx="210312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2976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ceremonias, remueve impedimentos y coordina el Acta de Aprobación con el Product Owner.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01568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5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4315968" y="21031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478" y="230063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Team — Base de Datos y Backend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38728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Rosales Crispín, Aristóteles Onassis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75888" y="4178808"/>
            <a:ext cx="210312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84448" y="42976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en Supabase, autenticación, políticas RLS y automatización del stock.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54496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5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7168896" y="210312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406" y="230063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656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Team — Frontend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391656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Vilcapoma Ochoa, Michael Axel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528816" y="4178808"/>
            <a:ext cx="210312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37376" y="42976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de pedidos, clientes, distribución y reportes; diseño responsive.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107424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5F6FA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21824" y="21031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7" name="Image 3" descr="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334" y="2300630"/>
            <a:ext cx="427939" cy="42793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44584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Team — QA y Control de Versiones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244584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Lulo, Moisés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381744" y="4178808"/>
            <a:ext cx="210312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290304" y="42976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por sprint y gestión del repositorio en GitHub.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PLAN DE GESTIÓN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Cronograma: 6 sprints en 12 semanas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0881360" cy="0"/>
          </a:xfrm>
          <a:prstGeom prst="line">
            <a:avLst/>
          </a:prstGeom>
          <a:noFill/>
          <a:ln w="25400">
            <a:solidFill>
              <a:srgbClr val="3E4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999232"/>
            <a:ext cx="402336" cy="40233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32004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 datos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-320040" y="19659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modelo relacional en la nube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0" cy="141732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1965960"/>
            <a:ext cx="0" cy="1033272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615184" y="2999232"/>
            <a:ext cx="402336" cy="40233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56232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 pedidos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56232" y="3977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programación de recargas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6352" y="3401568"/>
            <a:ext cx="0" cy="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816352" y="3401568"/>
            <a:ext cx="0" cy="18288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91456" y="2999232"/>
            <a:ext cx="402336" cy="40233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32504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administrativo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32504" y="19659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solicitudes y rutas (DGOL)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92624" y="2999232"/>
            <a:ext cx="0" cy="141732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992624" y="1965960"/>
            <a:ext cx="0" cy="1033272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67728" y="2999232"/>
            <a:ext cx="402336" cy="40233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08776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 de despacho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08776" y="3977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mobile-first para repartidores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68896" y="3401568"/>
            <a:ext cx="0" cy="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168896" y="3401568"/>
            <a:ext cx="0" cy="18288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144000" y="2999232"/>
            <a:ext cx="402336" cy="40233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85048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penalidades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85048" y="19659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dashboard de KPIs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345168" y="2999232"/>
            <a:ext cx="0" cy="141732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9345168" y="1965960"/>
            <a:ext cx="0" cy="1033272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1320272" y="2999232"/>
            <a:ext cx="402336" cy="40233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320272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6132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Estabilización y cierre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561320" y="3977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capacitación y Release 1.0 (MVP)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1521440" y="3401568"/>
            <a:ext cx="0" cy="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1521440" y="3401568"/>
            <a:ext cx="0" cy="182880"/>
          </a:xfrm>
          <a:prstGeom prst="line">
            <a:avLst/>
          </a:prstGeom>
          <a:noFill/>
          <a:ln w="12700">
            <a:solidFill>
              <a:srgbClr val="6472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PLAN DE GESTIÓN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Recursos: sin presupuesto, con horas-hombre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B23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S/. 0.00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(BAC)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herramientas de nivel gratuito: Supabase, GitHub y VS Code. El esfuerzo se mide en horas-hombre para el seguimiento EVM.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2860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 h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43400" y="30175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Horas-hombre totales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7033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Scrum Master / QA: 15 h/sem × 12 sem = 180 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44805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Desarrolladores full-stack: 20 h/sem c/u × 12 sem = 720 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7830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tecnológicos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66760" y="24688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88" y="257860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61120" y="25237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Free Tier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66760" y="309067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3200400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961120" y="31455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Free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366760" y="37124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2" name="Image 2" descr="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382219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61120" y="37673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Gratuito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366760" y="4379976"/>
            <a:ext cx="3063240" cy="0"/>
          </a:xfrm>
          <a:prstGeom prst="line">
            <a:avLst/>
          </a:prstGeom>
          <a:noFill/>
          <a:ln w="12700">
            <a:solidFill>
              <a:srgbClr val="E3E5E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66760" y="4562856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adaptado: SPI y CPI se calculan sobre horas-hombre en lugar de soles.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PLAN DE GESTIÓN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riesgos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20240"/>
            <a:ext cx="777240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856232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uso de la app móvil por los conductores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29400" y="1856232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/ Alto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1856232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“cero fricción” y talleres de co-diseño desde el Sprint 2.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980944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80944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916936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conectividad durante el reparto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2916936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Alto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2916936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manual de respaldo con sincronización posterior.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041648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41648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977640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Ambigüedad en las reglas del motor de penalidades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397764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Medio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8160" y="3977640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administrables desde el panel, sin tocar código.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5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5102352"/>
            <a:ext cx="777240" cy="658368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10235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5038344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Subestimación del esfuerzo en consultas SQL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5038344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Medio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8160" y="5038344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del SPI al cierre del Sprint 1 y ajuste de alcance.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PLAN DE CALIDAD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calidad ISO/IEC 25010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1B2352"/>
          </a:solidFill>
          <a:ln/>
        </p:spPr>
      </p:sp>
      <p:sp>
        <p:nvSpPr>
          <p:cNvPr id="6" name="Shape 3"/>
          <p:cNvSpPr/>
          <p:nvPr/>
        </p:nvSpPr>
        <p:spPr>
          <a:xfrm>
            <a:off x="7818120" y="19476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821" y="2068373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19751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(4/5)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818120" y="24231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y RLS permiten protección alta sin costo adicional.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543800" y="3794760"/>
            <a:ext cx="4069080" cy="2057400"/>
          </a:xfrm>
          <a:prstGeom prst="roundRect">
            <a:avLst>
              <a:gd name="adj" fmla="val 3556"/>
            </a:avLst>
          </a:prstGeom>
          <a:solidFill>
            <a:srgbClr val="2F3C7E"/>
          </a:solidFill>
          <a:ln/>
        </p:spPr>
      </p:sp>
      <p:sp>
        <p:nvSpPr>
          <p:cNvPr id="11" name="Shape 7"/>
          <p:cNvSpPr/>
          <p:nvPr/>
        </p:nvSpPr>
        <p:spPr>
          <a:xfrm>
            <a:off x="7818120" y="402336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2" name="Image 1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821" y="414406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58200" y="4050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Adecuación funcional (4/5)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818120" y="4572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de pedidos huérfanos o inconsistentes al cierre de las pruebas UAT (Sprint 6).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 · 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lecciones aprendidas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409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47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sustentada en evidencia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se eligió tras clasificar los 23 RF y 9 RNF por estabilidad, riesgo y necesidad de validación — no por preferencia.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2F3C7E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61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947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sin perder agilidad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25603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Acta de Aprobación de Incremento Técnico concilia la agilidad de Scrum con el respaldo documental académico.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2F3C7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_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3269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honestos y alcanzables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48463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presupuesto y calidad se ajustaron a un proyecto universitario sin financiamiento, priorizando Seguridad y Adecuación funcional.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0760" y="3977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2F3C7E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ic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61" y="432694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Planificar las propias limitaciones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09360" y="48463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honestamente las restricciones del equipo es, en sí mismo, un ejercicio de ingeniería de software.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5682996" y="18288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icon_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506" y="202631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GasControl System · Plan Integral de Desarrollo de Software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88636" y="434340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Huamán Quispe, Juan Lenin  ·  Rosales Crispín, Aristóteles Onassis  ·  Vilcapoma Ochoa, Michael Axel  ·  Salva Lulo, Moisés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2026-07-21T04:53:24Z</dcterms:created>
  <dcterms:modified xsi:type="dcterms:W3CDTF">2026-07-21T04:53:24Z</dcterms:modified>
</cp:coreProperties>
</file>